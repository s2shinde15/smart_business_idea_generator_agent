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8" r:id="rId5"/>
    <p:sldId id="285" r:id="rId6"/>
    <p:sldId id="289" r:id="rId7"/>
    <p:sldId id="290" r:id="rId8"/>
    <p:sldId id="291" r:id="rId9"/>
    <p:sldId id="264" r:id="rId10"/>
    <p:sldId id="278" r:id="rId11"/>
    <p:sldId id="286" r:id="rId12"/>
    <p:sldId id="28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96" d="100"/>
          <a:sy n="96" d="100"/>
        </p:scale>
        <p:origin x="30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04963419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smtClean="0"/>
                        <a:t>Prof. </a:t>
                      </a:r>
                      <a:r>
                        <a:rPr lang="en-US" dirty="0" err="1" smtClean="0"/>
                        <a:t>Shivani</a:t>
                      </a:r>
                      <a:r>
                        <a:rPr lang="en-US" dirty="0" smtClean="0"/>
                        <a:t> </a:t>
                      </a:r>
                      <a:r>
                        <a:rPr lang="en-US" dirty="0" err="1" smtClean="0"/>
                        <a:t>Shinde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shivani2shind15@gmail.com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8830049312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84046"/>
            <a:ext cx="1028025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Domain of  Project </a:t>
            </a:r>
            <a:r>
              <a:rPr lang="en-US" sz="2400" b="1" dirty="0" smtClean="0">
                <a:latin typeface="Times New Roman" panose="02020603050405020304" pitchFamily="18" charset="0"/>
                <a:cs typeface="Times New Roman" panose="02020603050405020304" pitchFamily="18" charset="0"/>
              </a:rPr>
              <a:t>– Industry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4" y="647575"/>
            <a:ext cx="958117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Project Tile – </a:t>
            </a:r>
            <a:r>
              <a:rPr lang="en-IN" sz="2400" b="1" dirty="0" smtClean="0">
                <a:latin typeface="Times New Roman" panose="02020603050405020304" pitchFamily="18" charset="0"/>
                <a:cs typeface="Times New Roman" panose="02020603050405020304" pitchFamily="18" charset="0"/>
              </a:rPr>
              <a:t>Smart </a:t>
            </a:r>
            <a:r>
              <a:rPr lang="en-IN" sz="2400" b="1" dirty="0">
                <a:latin typeface="Times New Roman" panose="02020603050405020304" pitchFamily="18" charset="0"/>
                <a:cs typeface="Times New Roman" panose="02020603050405020304" pitchFamily="18" charset="0"/>
              </a:rPr>
              <a:t>Business Idea Generator </a:t>
            </a:r>
            <a:r>
              <a:rPr lang="en-IN" sz="2400" b="1" dirty="0" smtClean="0">
                <a:latin typeface="Times New Roman" panose="02020603050405020304" pitchFamily="18" charset="0"/>
                <a:cs typeface="Times New Roman" panose="02020603050405020304" pitchFamily="18" charset="0"/>
              </a:rPr>
              <a:t>Agent</a:t>
            </a:r>
            <a:endParaRPr lang="en-IN" sz="2400" b="1" dirty="0">
              <a:highlight>
                <a:srgbClr val="FFFF00"/>
              </a:highlight>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5652" y="3618065"/>
            <a:ext cx="1182757" cy="11493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47645"/>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Problem Statement </a:t>
            </a:r>
            <a:r>
              <a:rPr lang="en-IN" sz="1600" b="1" dirty="0" smtClean="0">
                <a:latin typeface="Times New Roman" panose="02020603050405020304" pitchFamily="18" charset="0"/>
                <a:cs typeface="Times New Roman" panose="02020603050405020304" pitchFamily="18" charset="0"/>
              </a:rPr>
              <a:t>No 12 : </a:t>
            </a:r>
            <a:r>
              <a:rPr lang="en-IN" sz="1600" b="1" dirty="0">
                <a:latin typeface="Times New Roman" panose="02020603050405020304" pitchFamily="18" charset="0"/>
                <a:cs typeface="Times New Roman" panose="02020603050405020304" pitchFamily="18" charset="0"/>
              </a:rPr>
              <a:t>Smart Business Idea Generator </a:t>
            </a:r>
            <a:r>
              <a:rPr lang="en-IN" sz="1600" b="1" dirty="0" smtClean="0">
                <a:latin typeface="Times New Roman" panose="02020603050405020304" pitchFamily="18" charset="0"/>
                <a:cs typeface="Times New Roman" panose="02020603050405020304" pitchFamily="18" charset="0"/>
              </a:rPr>
              <a:t>Agent</a:t>
            </a:r>
            <a:endParaRPr lang="en-IN" sz="1600" dirty="0" smtClean="0">
              <a:latin typeface="Times New Roman" panose="02020603050405020304" pitchFamily="18" charset="0"/>
              <a:cs typeface="Times New Roman" panose="02020603050405020304" pitchFamily="18" charset="0"/>
            </a:endParaRPr>
          </a:p>
          <a:p>
            <a:r>
              <a:rPr lang="en-IN" sz="1600" b="1" dirty="0" smtClean="0">
                <a:latin typeface="Times New Roman" panose="02020603050405020304" pitchFamily="18" charset="0"/>
                <a:cs typeface="Times New Roman" panose="02020603050405020304" pitchFamily="18" charset="0"/>
              </a:rPr>
              <a:t>-The Challenge</a:t>
            </a:r>
            <a:endParaRPr lang="en-IN" sz="1600" dirty="0" smtClean="0">
              <a:latin typeface="Times New Roman" panose="02020603050405020304" pitchFamily="18" charset="0"/>
              <a:cs typeface="Times New Roman" panose="02020603050405020304" pitchFamily="18" charset="0"/>
            </a:endParaRPr>
          </a:p>
          <a:p>
            <a:r>
              <a:rPr lang="en-IN" sz="1600" dirty="0" smtClean="0">
                <a:latin typeface="Times New Roman" panose="02020603050405020304" pitchFamily="18" charset="0"/>
                <a:cs typeface="Times New Roman" panose="02020603050405020304" pitchFamily="18" charset="0"/>
              </a:rPr>
              <a:t>In </a:t>
            </a:r>
            <a:r>
              <a:rPr lang="en-IN" sz="1600" dirty="0">
                <a:latin typeface="Times New Roman" panose="02020603050405020304" pitchFamily="18" charset="0"/>
                <a:cs typeface="Times New Roman" panose="02020603050405020304" pitchFamily="18" charset="0"/>
              </a:rPr>
              <a:t>the digital era, innovation is crucial, but individuals, students, researchers, and organizations often struggle with idea generation. Brainstorming sessions are unstructured, inspiration is scattered across articles, videos, and social media, and existing tools focus on text-only prompts without context-awareness. The challenge is not just to suggest random ideas but to synthesize creativity, context, and relevance into intelligent, actionable ideas for diverse domains such as </a:t>
            </a:r>
            <a:r>
              <a:rPr lang="en-IN" sz="1600" dirty="0" err="1">
                <a:latin typeface="Times New Roman" panose="02020603050405020304" pitchFamily="18" charset="0"/>
                <a:cs typeface="Times New Roman" panose="02020603050405020304" pitchFamily="18" charset="0"/>
              </a:rPr>
              <a:t>startups</a:t>
            </a:r>
            <a:r>
              <a:rPr lang="en-IN" sz="1600" dirty="0">
                <a:latin typeface="Times New Roman" panose="02020603050405020304" pitchFamily="18" charset="0"/>
                <a:cs typeface="Times New Roman" panose="02020603050405020304" pitchFamily="18" charset="0"/>
              </a:rPr>
              <a:t>, research, content creation, or product development.</a:t>
            </a:r>
          </a:p>
          <a:p>
            <a:r>
              <a:rPr lang="en-IN" sz="1600" b="1" dirty="0" smtClean="0">
                <a:latin typeface="Times New Roman" panose="02020603050405020304" pitchFamily="18" charset="0"/>
                <a:cs typeface="Times New Roman" panose="02020603050405020304" pitchFamily="18" charset="0"/>
              </a:rPr>
              <a:t>-The </a:t>
            </a:r>
            <a:r>
              <a:rPr lang="en-IN" sz="1600" b="1" dirty="0">
                <a:latin typeface="Times New Roman" panose="02020603050405020304" pitchFamily="18" charset="0"/>
                <a:cs typeface="Times New Roman" panose="02020603050405020304" pitchFamily="18" charset="0"/>
              </a:rPr>
              <a:t>Objective</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Build an agentic AI Smart Idea Generator that empowers users with contextual, innovative, and multimodal ideation. The solution should:</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Fuse Knowledge Sources:</a:t>
            </a:r>
            <a:r>
              <a:rPr lang="en-IN" sz="1600" dirty="0">
                <a:latin typeface="Times New Roman" panose="02020603050405020304" pitchFamily="18" charset="0"/>
                <a:cs typeface="Times New Roman" panose="02020603050405020304" pitchFamily="18" charset="0"/>
              </a:rPr>
              <a:t> Pull insights from articles, research papers, trend analysis, and social platforms to generate contextual and current ideas.</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Enable Multimodal Brainstorming</a:t>
            </a:r>
            <a:r>
              <a:rPr lang="en-IN" sz="1600" dirty="0">
                <a:latin typeface="Times New Roman" panose="02020603050405020304" pitchFamily="18" charset="0"/>
                <a:cs typeface="Times New Roman" panose="02020603050405020304" pitchFamily="18" charset="0"/>
              </a:rPr>
              <a:t>: Accept inputs like text prompts, images (e.g., product sketches), or voice notes and refine them into structured, creative suggestions.</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Create a Predictive &amp; Agentic Layer:</a:t>
            </a:r>
            <a:r>
              <a:rPr lang="en-IN" sz="1600" dirty="0">
                <a:latin typeface="Times New Roman" panose="02020603050405020304" pitchFamily="18" charset="0"/>
                <a:cs typeface="Times New Roman" panose="02020603050405020304" pitchFamily="18" charset="0"/>
              </a:rPr>
              <a:t> Identify trending domains (e.g., AI in healthcare, sustainable energy), forecast idea relevance, and recommend high-impact directions.</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Visualize Idea Maps:</a:t>
            </a:r>
            <a:r>
              <a:rPr lang="en-IN" sz="1600" dirty="0">
                <a:latin typeface="Times New Roman" panose="02020603050405020304" pitchFamily="18" charset="0"/>
                <a:cs typeface="Times New Roman" panose="02020603050405020304" pitchFamily="18" charset="0"/>
              </a:rPr>
              <a:t> Provide an interactive dashboard that organizes ideas into categories, impact scores, and feasibility maps, helping users explore and refine concepts quickly.</a:t>
            </a: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Tech Stack (Mandatory)</a:t>
            </a:r>
            <a:endParaRPr lang="en-IN" sz="1600" dirty="0">
              <a:latin typeface="Times New Roman" panose="02020603050405020304" pitchFamily="18" charset="0"/>
              <a:cs typeface="Times New Roman" panose="02020603050405020304" pitchFamily="18" charset="0"/>
            </a:endParaRPr>
          </a:p>
          <a:p>
            <a:pPr lvl="0"/>
            <a:r>
              <a:rPr lang="en-IN" sz="1600" dirty="0" smtClean="0">
                <a:latin typeface="Times New Roman" panose="02020603050405020304" pitchFamily="18" charset="0"/>
                <a:cs typeface="Times New Roman" panose="02020603050405020304" pitchFamily="18" charset="0"/>
              </a:rPr>
              <a:t>      IBM </a:t>
            </a:r>
            <a:r>
              <a:rPr lang="en-IN" sz="1600" dirty="0" err="1">
                <a:latin typeface="Times New Roman" panose="02020603050405020304" pitchFamily="18" charset="0"/>
                <a:cs typeface="Times New Roman" panose="02020603050405020304" pitchFamily="18" charset="0"/>
              </a:rPr>
              <a:t>Langflow</a:t>
            </a:r>
            <a:r>
              <a:rPr lang="en-IN" sz="1600" dirty="0">
                <a:latin typeface="Times New Roman" panose="02020603050405020304" pitchFamily="18" charset="0"/>
                <a:cs typeface="Times New Roman" panose="02020603050405020304" pitchFamily="18" charset="0"/>
              </a:rPr>
              <a:t> / IBM Orchestrate + IBM Models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Problem Statement -</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anose="02020603050405020304" pitchFamily="18" charset="0"/>
                <a:cs typeface="Times New Roman" panose="02020603050405020304" pitchFamily="18" charset="0"/>
              </a:rPr>
              <a:t>Technology Stack</a:t>
            </a:r>
            <a:endParaRPr lang="en-IN" sz="40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body" idx="1"/>
          </p:nvPr>
        </p:nvSpPr>
        <p:spPr bwMode="auto">
          <a:xfrm>
            <a:off x="838200" y="1949917"/>
            <a:ext cx="523748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IBM Cloud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IBM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watsonx</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Orchestrate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IBM Granite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Knowledge Base (Business Ideas Repository) </a:t>
            </a:r>
          </a:p>
        </p:txBody>
      </p:sp>
    </p:spTree>
    <p:extLst>
      <p:ext uri="{BB962C8B-B14F-4D97-AF65-F5344CB8AC3E}">
        <p14:creationId xmlns:p14="http://schemas.microsoft.com/office/powerpoint/2010/main" val="3516435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78313"/>
          </a:xfrm>
          <a:prstGeom prst="rect">
            <a:avLst/>
          </a:prstGeom>
          <a:noFill/>
        </p:spPr>
        <p:txBody>
          <a:bodyPr wrap="square" rtlCol="0">
            <a:spAutoFit/>
          </a:bodyPr>
          <a:lstStyle/>
          <a:p>
            <a:pPr algn="just"/>
            <a:r>
              <a:rPr lang="en-US" sz="1800" dirty="0">
                <a:latin typeface="Times New Roman" panose="02020603050405020304" pitchFamily="18" charset="0"/>
                <a:cs typeface="Times New Roman" panose="02020603050405020304" pitchFamily="18" charset="0"/>
              </a:rPr>
              <a:t>The proposed solution is a </a:t>
            </a:r>
            <a:r>
              <a:rPr lang="en-US" sz="1800" b="1" dirty="0">
                <a:latin typeface="Times New Roman" panose="02020603050405020304" pitchFamily="18" charset="0"/>
                <a:cs typeface="Times New Roman" panose="02020603050405020304" pitchFamily="18" charset="0"/>
              </a:rPr>
              <a:t>multi-agent AI-powered Smart Business Idea Generator</a:t>
            </a:r>
            <a:r>
              <a:rPr lang="en-US" sz="1800" dirty="0">
                <a:latin typeface="Times New Roman" panose="02020603050405020304" pitchFamily="18" charset="0"/>
                <a:cs typeface="Times New Roman" panose="02020603050405020304" pitchFamily="18" charset="0"/>
              </a:rPr>
              <a:t> built using </a:t>
            </a:r>
            <a:r>
              <a:rPr lang="en-US" sz="1800" b="1" dirty="0" smtClean="0">
                <a:latin typeface="Times New Roman" panose="02020603050405020304" pitchFamily="18" charset="0"/>
                <a:cs typeface="Times New Roman" panose="02020603050405020304" pitchFamily="18" charset="0"/>
              </a:rPr>
              <a:t>IBM </a:t>
            </a:r>
            <a:r>
              <a:rPr lang="en-US" sz="1800" b="1" dirty="0">
                <a:latin typeface="Times New Roman" panose="02020603050405020304" pitchFamily="18" charset="0"/>
                <a:cs typeface="Times New Roman" panose="02020603050405020304" pitchFamily="18" charset="0"/>
              </a:rPr>
              <a:t>Orchestrate, watsonx.ai, and Granite Models</a:t>
            </a:r>
            <a:r>
              <a:rPr lang="en-US" sz="1800" dirty="0">
                <a:latin typeface="Times New Roman" panose="02020603050405020304" pitchFamily="18" charset="0"/>
                <a:cs typeface="Times New Roman" panose="02020603050405020304" pitchFamily="18" charset="0"/>
              </a:rPr>
              <a:t> to help users generate innovative and market-relevant business ideas.</a:t>
            </a:r>
          </a:p>
          <a:p>
            <a:pPr algn="just"/>
            <a:r>
              <a:rPr lang="en-US" sz="1800" dirty="0">
                <a:latin typeface="Times New Roman" panose="02020603050405020304" pitchFamily="18" charset="0"/>
                <a:cs typeface="Times New Roman" panose="02020603050405020304" pitchFamily="18" charset="0"/>
              </a:rPr>
              <a:t>The system uses a </a:t>
            </a:r>
            <a:r>
              <a:rPr lang="en-US" sz="1800" b="1" dirty="0">
                <a:latin typeface="Times New Roman" panose="02020603050405020304" pitchFamily="18" charset="0"/>
                <a:cs typeface="Times New Roman" panose="02020603050405020304" pitchFamily="18" charset="0"/>
              </a:rPr>
              <a:t>Retrieval-Augmented Generation (RAG)</a:t>
            </a:r>
            <a:r>
              <a:rPr lang="en-US" sz="1800" dirty="0">
                <a:latin typeface="Times New Roman" panose="02020603050405020304" pitchFamily="18" charset="0"/>
                <a:cs typeface="Times New Roman" panose="02020603050405020304" pitchFamily="18" charset="0"/>
              </a:rPr>
              <a:t> pipeline to gather insights from research papers, business articles, startup databases, and social media trends. Retrieved information is stored in a vector database and processed using Granite models to generate contextual and actionable ideas.</a:t>
            </a:r>
          </a:p>
          <a:p>
            <a:pPr algn="just"/>
            <a:r>
              <a:rPr lang="en-US" sz="1800" dirty="0">
                <a:latin typeface="Times New Roman" panose="02020603050405020304" pitchFamily="18" charset="0"/>
                <a:cs typeface="Times New Roman" panose="02020603050405020304" pitchFamily="18" charset="0"/>
              </a:rPr>
              <a:t>The solution consists of four key agents:</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Idea Discovery Agent</a:t>
            </a:r>
            <a:r>
              <a:rPr lang="en-US" sz="1800" dirty="0">
                <a:latin typeface="Times New Roman" panose="02020603050405020304" pitchFamily="18" charset="0"/>
                <a:cs typeface="Times New Roman" panose="02020603050405020304" pitchFamily="18" charset="0"/>
              </a:rPr>
              <a:t> – Collects and analyzes trends, research, and market opportunities. </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Business Innovation Agent</a:t>
            </a:r>
            <a:r>
              <a:rPr lang="en-US" sz="1800" dirty="0">
                <a:latin typeface="Times New Roman" panose="02020603050405020304" pitchFamily="18" charset="0"/>
                <a:cs typeface="Times New Roman" panose="02020603050405020304" pitchFamily="18" charset="0"/>
              </a:rPr>
              <a:t> – Generates personalized business ideas based on user interests, budget, and goals. </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Trend Forecasting Agent</a:t>
            </a:r>
            <a:r>
              <a:rPr lang="en-US" sz="1800" dirty="0">
                <a:latin typeface="Times New Roman" panose="02020603050405020304" pitchFamily="18" charset="0"/>
                <a:cs typeface="Times New Roman" panose="02020603050405020304" pitchFamily="18" charset="0"/>
              </a:rPr>
              <a:t> – Identifies emerging technologies and predicts high-potential business domains. </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Idea Validation Agent</a:t>
            </a:r>
            <a:r>
              <a:rPr lang="en-US" sz="1800" dirty="0">
                <a:latin typeface="Times New Roman" panose="02020603050405020304" pitchFamily="18" charset="0"/>
                <a:cs typeface="Times New Roman" panose="02020603050405020304" pitchFamily="18" charset="0"/>
              </a:rPr>
              <a:t> – Evaluates ideas based on feasibility, market demand, scalability, and innovation. </a:t>
            </a:r>
          </a:p>
          <a:p>
            <a:pPr algn="just"/>
            <a:r>
              <a:rPr lang="en-US" sz="1800" dirty="0">
                <a:latin typeface="Times New Roman" panose="02020603050405020304" pitchFamily="18" charset="0"/>
                <a:cs typeface="Times New Roman" panose="02020603050405020304" pitchFamily="18" charset="0"/>
              </a:rPr>
              <a:t>An interactive </a:t>
            </a:r>
            <a:r>
              <a:rPr lang="en-US" sz="1800" b="1" dirty="0" err="1">
                <a:latin typeface="Times New Roman" panose="02020603050405020304" pitchFamily="18" charset="0"/>
                <a:cs typeface="Times New Roman" panose="02020603050405020304" pitchFamily="18" charset="0"/>
              </a:rPr>
              <a:t>Streamlit</a:t>
            </a:r>
            <a:r>
              <a:rPr lang="en-US" sz="1800" b="1" dirty="0">
                <a:latin typeface="Times New Roman" panose="02020603050405020304" pitchFamily="18" charset="0"/>
                <a:cs typeface="Times New Roman" panose="02020603050405020304" pitchFamily="18" charset="0"/>
              </a:rPr>
              <a:t>/React dashboard</a:t>
            </a:r>
            <a:r>
              <a:rPr lang="en-US" sz="1800" dirty="0">
                <a:latin typeface="Times New Roman" panose="02020603050405020304" pitchFamily="18" charset="0"/>
                <a:cs typeface="Times New Roman" panose="02020603050405020304" pitchFamily="18" charset="0"/>
              </a:rPr>
              <a:t> visualizes idea maps, trend insights, feasibility scores, and business </a:t>
            </a:r>
            <a:r>
              <a:rPr lang="en-US" sz="1800" dirty="0" smtClean="0">
                <a:latin typeface="Times New Roman" panose="02020603050405020304" pitchFamily="18" charset="0"/>
                <a:cs typeface="Times New Roman" panose="02020603050405020304" pitchFamily="18" charset="0"/>
              </a:rPr>
              <a:t>opportunities. RAG </a:t>
            </a:r>
            <a:r>
              <a:rPr lang="en-US" sz="1800" dirty="0">
                <a:latin typeface="Times New Roman" panose="02020603050405020304" pitchFamily="18" charset="0"/>
                <a:cs typeface="Times New Roman" panose="02020603050405020304" pitchFamily="18" charset="0"/>
              </a:rPr>
              <a:t>orchestrates agent workflows, while watsonx.ai ensures scalable AI deployment and governance.</a:t>
            </a:r>
          </a:p>
          <a:p>
            <a:pPr algn="just"/>
            <a:r>
              <a:rPr lang="en-US" sz="1800" dirty="0">
                <a:latin typeface="Times New Roman" panose="02020603050405020304" pitchFamily="18" charset="0"/>
                <a:cs typeface="Times New Roman" panose="02020603050405020304" pitchFamily="18" charset="0"/>
              </a:rPr>
              <a:t>Overall, the solution provides an intelligent platform for generating, validating, and refining business ideas through AI-driven creativity, trend analysis, and decision support.</a:t>
            </a:r>
          </a:p>
          <a:p>
            <a:pPr algn="just" fontAlgn="base"/>
            <a:endParaRPr lang="en-US" sz="1800" dirty="0" smtClean="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Proposed Solution -</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7753"/>
          </a:xfrm>
        </p:spPr>
        <p:txBody>
          <a:bodyPr/>
          <a:lstStyle/>
          <a:p>
            <a:r>
              <a:rPr lang="en-US" dirty="0" smtClean="0"/>
              <a:t>Result</a:t>
            </a:r>
            <a:endParaRPr lang="en-IN" dirty="0"/>
          </a:p>
        </p:txBody>
      </p:sp>
      <p:sp>
        <p:nvSpPr>
          <p:cNvPr id="3" name="Text Placeholder 2"/>
          <p:cNvSpPr>
            <a:spLocks noGrp="1"/>
          </p:cNvSpPr>
          <p:nvPr>
            <p:ph type="body" idx="1"/>
          </p:nvPr>
        </p:nvSpPr>
        <p:spPr/>
        <p:txBody>
          <a:bodyPr/>
          <a:lstStyle/>
          <a:p>
            <a:endParaRPr lang="en-IN"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3876"/>
          <a:stretch/>
        </p:blipFill>
        <p:spPr>
          <a:xfrm>
            <a:off x="576469" y="1242475"/>
            <a:ext cx="11013371" cy="5128508"/>
          </a:xfrm>
          <a:prstGeom prst="rect">
            <a:avLst/>
          </a:prstGeom>
        </p:spPr>
      </p:pic>
    </p:spTree>
    <p:extLst>
      <p:ext uri="{BB962C8B-B14F-4D97-AF65-F5344CB8AC3E}">
        <p14:creationId xmlns:p14="http://schemas.microsoft.com/office/powerpoint/2010/main" val="577313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409043" cy="708301"/>
          </a:xfrm>
        </p:spPr>
        <p:txBody>
          <a:bodyPr/>
          <a:lstStyle/>
          <a:p>
            <a:r>
              <a:rPr lang="en-US" dirty="0" smtClean="0"/>
              <a:t>Result Continued</a:t>
            </a:r>
            <a:endParaRPr lang="en-IN" dirty="0"/>
          </a:p>
        </p:txBody>
      </p:sp>
      <p:sp>
        <p:nvSpPr>
          <p:cNvPr id="3" name="Text Placeholder 2"/>
          <p:cNvSpPr>
            <a:spLocks noGrp="1"/>
          </p:cNvSpPr>
          <p:nvPr>
            <p:ph type="body" idx="1"/>
          </p:nvPr>
        </p:nvSpPr>
        <p:spPr>
          <a:xfrm>
            <a:off x="838200" y="1073426"/>
            <a:ext cx="10515600" cy="5103537"/>
          </a:xfrm>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073426"/>
            <a:ext cx="10515600" cy="5374957"/>
          </a:xfrm>
          <a:prstGeom prst="rect">
            <a:avLst/>
          </a:prstGeom>
        </p:spPr>
      </p:pic>
    </p:spTree>
    <p:extLst>
      <p:ext uri="{BB962C8B-B14F-4D97-AF65-F5344CB8AC3E}">
        <p14:creationId xmlns:p14="http://schemas.microsoft.com/office/powerpoint/2010/main" val="3339923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204174" cy="897145"/>
          </a:xfrm>
        </p:spPr>
        <p:txBody>
          <a:bodyPr/>
          <a:lstStyle/>
          <a:p>
            <a:r>
              <a:rPr lang="en-US" dirty="0"/>
              <a:t>Result Continued</a:t>
            </a:r>
            <a:endParaRPr lang="en-IN" dirty="0"/>
          </a:p>
        </p:txBody>
      </p:sp>
      <p:sp>
        <p:nvSpPr>
          <p:cNvPr id="3" name="Text Placeholder 2"/>
          <p:cNvSpPr>
            <a:spLocks noGrp="1"/>
          </p:cNvSpPr>
          <p:nvPr>
            <p:ph type="body" idx="1"/>
          </p:nvPr>
        </p:nvSpPr>
        <p:spPr/>
        <p:txBody>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870" y="1243814"/>
            <a:ext cx="11151704" cy="5176864"/>
          </a:xfrm>
          <a:prstGeom prst="rect">
            <a:avLst/>
          </a:prstGeom>
        </p:spPr>
      </p:pic>
    </p:spTree>
    <p:extLst>
      <p:ext uri="{BB962C8B-B14F-4D97-AF65-F5344CB8AC3E}">
        <p14:creationId xmlns:p14="http://schemas.microsoft.com/office/powerpoint/2010/main" val="4272816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Role of Agentic AI in the solution </a:t>
            </a:r>
            <a:endParaRPr lang="en-IN"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22462E8-EB3A-DA7D-44CB-4E757803A755}"/>
              </a:ext>
            </a:extLst>
          </p:cNvPr>
          <p:cNvSpPr txBox="1"/>
          <p:nvPr/>
        </p:nvSpPr>
        <p:spPr>
          <a:xfrm>
            <a:off x="711244" y="1247006"/>
            <a:ext cx="6415112" cy="409342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Agentic AI enables the Smart Business Idea Generator to act as an intelligent innovation assistant rather than a simple idea-generation tool. Using </a:t>
            </a:r>
            <a:r>
              <a:rPr lang="en-US" sz="2000" b="1" dirty="0">
                <a:latin typeface="Times New Roman" panose="02020603050405020304" pitchFamily="18" charset="0"/>
                <a:cs typeface="Times New Roman" panose="02020603050405020304" pitchFamily="18" charset="0"/>
              </a:rPr>
              <a:t>IBM watsonx.ai</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Granite Models</a:t>
            </a:r>
            <a:r>
              <a:rPr lang="en-US" sz="2000" dirty="0">
                <a:latin typeface="Times New Roman" panose="02020603050405020304" pitchFamily="18" charset="0"/>
                <a:cs typeface="Times New Roman" panose="02020603050405020304" pitchFamily="18" charset="0"/>
              </a:rPr>
              <a:t>, it coordinates multiple agents to discover trends, generate business ideas, forecast opportunities, and validate feasibility.</a:t>
            </a:r>
          </a:p>
          <a:p>
            <a:r>
              <a:rPr lang="en-US" sz="2000" dirty="0">
                <a:latin typeface="Times New Roman" panose="02020603050405020304" pitchFamily="18" charset="0"/>
                <a:cs typeface="Times New Roman" panose="02020603050405020304" pitchFamily="18" charset="0"/>
              </a:rPr>
              <a:t>The agents work collaboratively, understand user preferences and goals, and provide personalized, market-relevant business suggestions. They continuously analyze emerging trends and refine ideas based on real-time insights.</a:t>
            </a:r>
          </a:p>
          <a:p>
            <a:r>
              <a:rPr lang="en-US" sz="2000" dirty="0">
                <a:latin typeface="Times New Roman" panose="02020603050405020304" pitchFamily="18" charset="0"/>
                <a:cs typeface="Times New Roman" panose="02020603050405020304" pitchFamily="18" charset="0"/>
              </a:rPr>
              <a:t>Overall, Agentic AI makes the system proactive, context-aware, and goal-driven, helping users generate innovative and high-potential business ideas efficiently.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Technology Used</a:t>
            </a:r>
            <a:endParaRPr lang="en-IN"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194911"/>
            <a:ext cx="10515600" cy="5663089"/>
          </a:xfrm>
          <a:prstGeom prst="rect">
            <a:avLst/>
          </a:prstGeom>
          <a:noFill/>
        </p:spPr>
        <p:txBody>
          <a:bodyPr wrap="square" rtlCol="0">
            <a:spAutoFit/>
          </a:bodyPr>
          <a:lstStyle/>
          <a:p>
            <a:pPr lvl="0" algn="just" eaLnBrk="0" fontAlgn="base" hangingPunct="0">
              <a:spcBef>
                <a:spcPct val="0"/>
              </a:spcBef>
              <a:spcAft>
                <a:spcPct val="0"/>
              </a:spcAft>
              <a:buClrTx/>
              <a:buFontTx/>
              <a:buChar char="•"/>
            </a:pPr>
            <a:r>
              <a:rPr lang="en-US" altLang="en-US" sz="2000" b="1" dirty="0" smtClean="0">
                <a:latin typeface="Times New Roman" panose="02020603050405020304" pitchFamily="18" charset="0"/>
                <a:ea typeface="Calibri"/>
                <a:cs typeface="Times New Roman" panose="02020603050405020304" pitchFamily="18" charset="0"/>
                <a:sym typeface="Calibri"/>
              </a:rPr>
              <a:t>  </a:t>
            </a:r>
            <a:r>
              <a:rPr lang="en-US" sz="2000" b="1" dirty="0" smtClean="0">
                <a:latin typeface="Times New Roman" panose="02020603050405020304" pitchFamily="18" charset="0"/>
                <a:cs typeface="Times New Roman" panose="02020603050405020304" pitchFamily="18" charset="0"/>
              </a:rPr>
              <a:t>IBM </a:t>
            </a:r>
            <a:r>
              <a:rPr lang="en-US" sz="2000" b="1" dirty="0" err="1">
                <a:latin typeface="Times New Roman" panose="02020603050405020304" pitchFamily="18" charset="0"/>
                <a:cs typeface="Times New Roman" panose="02020603050405020304" pitchFamily="18" charset="0"/>
              </a:rPr>
              <a:t>watsonx</a:t>
            </a:r>
            <a:r>
              <a:rPr lang="en-US" sz="2000" b="1" dirty="0">
                <a:latin typeface="Times New Roman" panose="02020603050405020304" pitchFamily="18" charset="0"/>
                <a:cs typeface="Times New Roman" panose="02020603050405020304" pitchFamily="18" charset="0"/>
              </a:rPr>
              <a:t> Orchestrate</a:t>
            </a:r>
            <a:r>
              <a:rPr lang="en-US" sz="2000" dirty="0">
                <a:latin typeface="Times New Roman" panose="02020603050405020304" pitchFamily="18" charset="0"/>
                <a:cs typeface="Times New Roman" panose="02020603050405020304" pitchFamily="18" charset="0"/>
              </a:rPr>
              <a:t> is an AI-powered automation platform </a:t>
            </a:r>
            <a:r>
              <a:rPr lang="en-US" sz="2000" dirty="0" smtClean="0">
                <a:latin typeface="Times New Roman" panose="02020603050405020304" pitchFamily="18" charset="0"/>
                <a:cs typeface="Times New Roman" panose="02020603050405020304" pitchFamily="18" charset="0"/>
              </a:rPr>
              <a:t>that enables </a:t>
            </a:r>
            <a:r>
              <a:rPr lang="en-US" sz="2000" dirty="0">
                <a:latin typeface="Times New Roman" panose="02020603050405020304" pitchFamily="18" charset="0"/>
                <a:cs typeface="Times New Roman" panose="02020603050405020304" pitchFamily="18" charset="0"/>
              </a:rPr>
              <a:t>organizations </a:t>
            </a:r>
            <a:r>
              <a:rPr lang="en-US" sz="2000" dirty="0" smtClean="0">
                <a:latin typeface="Times New Roman" panose="02020603050405020304" pitchFamily="18" charset="0"/>
                <a:cs typeface="Times New Roman" panose="02020603050405020304" pitchFamily="18" charset="0"/>
              </a:rPr>
              <a:t>to</a:t>
            </a:r>
          </a:p>
          <a:p>
            <a:pPr lvl="0" algn="just" eaLnBrk="0" fontAlgn="base" hangingPunct="0">
              <a:spcBef>
                <a:spcPct val="0"/>
              </a:spcBef>
              <a:spcAft>
                <a:spcPct val="0"/>
              </a:spcAft>
              <a:buClrTx/>
            </a:pPr>
            <a:r>
              <a:rPr lang="en-US" sz="2000" dirty="0" smtClean="0">
                <a:latin typeface="Times New Roman" panose="02020603050405020304" pitchFamily="18" charset="0"/>
                <a:cs typeface="Times New Roman" panose="02020603050405020304" pitchFamily="18" charset="0"/>
              </a:rPr>
              <a:t>    build</a:t>
            </a:r>
            <a:r>
              <a:rPr lang="en-US" sz="2000" dirty="0">
                <a:latin typeface="Times New Roman" panose="02020603050405020304" pitchFamily="18" charset="0"/>
                <a:cs typeface="Times New Roman" panose="02020603050405020304" pitchFamily="18" charset="0"/>
              </a:rPr>
              <a:t>, manage, and coordinate intelligent agents and workflows to automate complex </a:t>
            </a:r>
            <a:r>
              <a:rPr lang="en-US" sz="2000" dirty="0" smtClean="0">
                <a:latin typeface="Times New Roman" panose="02020603050405020304" pitchFamily="18" charset="0"/>
                <a:cs typeface="Times New Roman" panose="02020603050405020304" pitchFamily="18" charset="0"/>
              </a:rPr>
              <a:t>business             tasks </a:t>
            </a:r>
            <a:r>
              <a:rPr lang="en-US" sz="2000" dirty="0">
                <a:latin typeface="Times New Roman" panose="02020603050405020304" pitchFamily="18" charset="0"/>
                <a:cs typeface="Times New Roman" panose="02020603050405020304" pitchFamily="18" charset="0"/>
              </a:rPr>
              <a:t>efficiently.</a:t>
            </a:r>
            <a:endParaRPr lang="en-US" altLang="en-US" sz="2000" b="1" dirty="0">
              <a:latin typeface="Times New Roman" panose="02020603050405020304" pitchFamily="18" charset="0"/>
              <a:ea typeface="Calibri"/>
              <a:cs typeface="Times New Roman" panose="02020603050405020304" pitchFamily="18" charset="0"/>
              <a:sym typeface="Calibri"/>
            </a:endParaRPr>
          </a:p>
          <a:p>
            <a:pPr algn="just"/>
            <a:endParaRPr lang="en-US" sz="2000"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IBM </a:t>
            </a:r>
            <a:r>
              <a:rPr lang="en-US" sz="2000" b="1" dirty="0" err="1">
                <a:latin typeface="Times New Roman" panose="02020603050405020304" pitchFamily="18" charset="0"/>
                <a:cs typeface="Times New Roman" panose="02020603050405020304" pitchFamily="18" charset="0"/>
              </a:rPr>
              <a:t>Grainte</a:t>
            </a:r>
            <a:r>
              <a:rPr lang="en-US" sz="2000" b="1" dirty="0">
                <a:latin typeface="Times New Roman" panose="02020603050405020304" pitchFamily="18" charset="0"/>
                <a:cs typeface="Times New Roman" panose="02020603050405020304" pitchFamily="18" charset="0"/>
              </a:rPr>
              <a:t> model </a:t>
            </a:r>
            <a:r>
              <a:rPr lang="en-US" sz="2000" dirty="0">
                <a:latin typeface="Times New Roman" panose="02020603050405020304" pitchFamily="18" charset="0"/>
                <a:cs typeface="Times New Roman" panose="02020603050405020304" pitchFamily="18" charset="0"/>
              </a:rPr>
              <a:t>-  for </a:t>
            </a:r>
            <a:r>
              <a:rPr lang="en-IN" sz="2000" dirty="0" err="1">
                <a:latin typeface="Times New Roman" panose="02020603050405020304" pitchFamily="18" charset="0"/>
                <a:cs typeface="Times New Roman" panose="02020603050405020304" pitchFamily="18" charset="0"/>
              </a:rPr>
              <a:t>groq</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openai</a:t>
            </a:r>
            <a:r>
              <a:rPr lang="en-IN" sz="2000" dirty="0">
                <a:latin typeface="Times New Roman" panose="02020603050405020304" pitchFamily="18" charset="0"/>
                <a:cs typeface="Times New Roman" panose="02020603050405020304" pitchFamily="18" charset="0"/>
              </a:rPr>
              <a:t>/gpt-oss-120b</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 natural language understanding, reasoning, and personalization</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IBM Cloud </a:t>
            </a:r>
            <a:r>
              <a:rPr lang="en-US" sz="2000" dirty="0">
                <a:latin typeface="Times New Roman" panose="02020603050405020304" pitchFamily="18" charset="0"/>
                <a:cs typeface="Times New Roman" panose="02020603050405020304" pitchFamily="18" charset="0"/>
              </a:rPr>
              <a:t>– It provides the infrastructure to build, deploy, and scale the Nutrition Agent efficiently. IBM Cloud enables a </a:t>
            </a:r>
            <a:r>
              <a:rPr lang="en-US" sz="2000" b="1" dirty="0">
                <a:latin typeface="Times New Roman" panose="02020603050405020304" pitchFamily="18" charset="0"/>
                <a:cs typeface="Times New Roman" panose="02020603050405020304" pitchFamily="18" charset="0"/>
              </a:rPr>
              <a:t>reliable, secure, and scalable environment</a:t>
            </a:r>
            <a:r>
              <a:rPr lang="en-US" sz="2000" dirty="0">
                <a:latin typeface="Times New Roman" panose="02020603050405020304" pitchFamily="18" charset="0"/>
                <a:cs typeface="Times New Roman" panose="02020603050405020304" pitchFamily="18" charset="0"/>
              </a:rPr>
              <a:t> for deploying the Nutrition Agent.</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RAG– </a:t>
            </a:r>
            <a:r>
              <a:rPr lang="en-US" sz="2000" dirty="0">
                <a:latin typeface="Times New Roman" panose="02020603050405020304" pitchFamily="18" charset="0"/>
                <a:cs typeface="Times New Roman" panose="02020603050405020304" pitchFamily="18" charset="0"/>
              </a:rPr>
              <a:t>RAG to </a:t>
            </a:r>
            <a:r>
              <a:rPr lang="en-US" sz="2000" b="1" dirty="0">
                <a:latin typeface="Times New Roman" panose="02020603050405020304" pitchFamily="18" charset="0"/>
                <a:cs typeface="Times New Roman" panose="02020603050405020304" pitchFamily="18" charset="0"/>
              </a:rPr>
              <a:t>fetch real data first, then generate intelligent answers</a:t>
            </a:r>
            <a:r>
              <a:rPr lang="en-US" sz="2000" dirty="0">
                <a:latin typeface="Times New Roman" panose="02020603050405020304" pitchFamily="18" charset="0"/>
                <a:cs typeface="Times New Roman" panose="02020603050405020304" pitchFamily="18" charset="0"/>
              </a:rPr>
              <a:t>, making the Nutrition Agent more trustworthy and effective.</a:t>
            </a:r>
          </a:p>
          <a:p>
            <a:endParaRPr lang="en-US" sz="18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574083"/>
            <a:ext cx="712317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Novelty and Uniqueness</a:t>
            </a:r>
            <a:endParaRPr lang="en-IN"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32453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proposed </a:t>
            </a:r>
            <a:r>
              <a:rPr lang="en-US" sz="2000" b="1" dirty="0">
                <a:latin typeface="Times New Roman" panose="02020603050405020304" pitchFamily="18" charset="0"/>
                <a:cs typeface="Times New Roman" panose="02020603050405020304" pitchFamily="18" charset="0"/>
              </a:rPr>
              <a:t>Smart Business Idea Generator Agent</a:t>
            </a:r>
            <a:r>
              <a:rPr lang="en-US" sz="2000" dirty="0">
                <a:latin typeface="Times New Roman" panose="02020603050405020304" pitchFamily="18" charset="0"/>
                <a:cs typeface="Times New Roman" panose="02020603050405020304" pitchFamily="18" charset="0"/>
              </a:rPr>
              <a:t> stands out by combining </a:t>
            </a:r>
            <a:r>
              <a:rPr lang="en-US" sz="2000" b="1" dirty="0">
                <a:latin typeface="Times New Roman" panose="02020603050405020304" pitchFamily="18" charset="0"/>
                <a:cs typeface="Times New Roman" panose="02020603050405020304" pitchFamily="18" charset="0"/>
              </a:rPr>
              <a:t>Agentic AI, knowledge-driven reasoning, and trend-based innovation</a:t>
            </a:r>
            <a:r>
              <a:rPr lang="en-US" sz="2000" dirty="0">
                <a:latin typeface="Times New Roman" panose="02020603050405020304" pitchFamily="18" charset="0"/>
                <a:cs typeface="Times New Roman" panose="02020603050405020304" pitchFamily="18" charset="0"/>
              </a:rPr>
              <a:t> into a single intelligent platform.</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Multi-Agent Intelligence</a:t>
            </a:r>
            <a:r>
              <a:rPr lang="en-US" sz="2000" dirty="0">
                <a:latin typeface="Times New Roman" panose="02020603050405020304" pitchFamily="18" charset="0"/>
                <a:cs typeface="Times New Roman" panose="02020603050405020304" pitchFamily="18" charset="0"/>
              </a:rPr>
              <a:t> – Multiple specialized agents collaborate to discover trends, generate ideas, validate feasibility, and refine business opportunities instead of relying on a single AI model.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Knowledge-Driven Idea Generation</a:t>
            </a:r>
            <a:r>
              <a:rPr lang="en-US" sz="2000" dirty="0">
                <a:latin typeface="Times New Roman" panose="02020603050405020304" pitchFamily="18" charset="0"/>
                <a:cs typeface="Times New Roman" panose="02020603050405020304" pitchFamily="18" charset="0"/>
              </a:rPr>
              <a:t> – Utilizes a business knowledge base and RAG-based retrieval to generate contextual, relevant, and actionable ideas rather than random suggestions.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Personalized Recommendations</a:t>
            </a:r>
            <a:r>
              <a:rPr lang="en-US" sz="2000" dirty="0">
                <a:latin typeface="Times New Roman" panose="02020603050405020304" pitchFamily="18" charset="0"/>
                <a:cs typeface="Times New Roman" panose="02020603050405020304" pitchFamily="18" charset="0"/>
              </a:rPr>
              <a:t> – Tailors business ideas based on user skills, interests, budget, industry preferences, and goals.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Trend-Aware Innovation</a:t>
            </a:r>
            <a:r>
              <a:rPr lang="en-US" sz="2000" dirty="0">
                <a:latin typeface="Times New Roman" panose="02020603050405020304" pitchFamily="18" charset="0"/>
                <a:cs typeface="Times New Roman" panose="02020603050405020304" pitchFamily="18" charset="0"/>
              </a:rPr>
              <a:t> – Identifies emerging technologies and market trends to recommend future-ready and high-potential business opportunities.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Idea Validation Layer</a:t>
            </a:r>
            <a:r>
              <a:rPr lang="en-US" sz="2000" dirty="0">
                <a:latin typeface="Times New Roman" panose="02020603050405020304" pitchFamily="18" charset="0"/>
                <a:cs typeface="Times New Roman" panose="02020603050405020304" pitchFamily="18" charset="0"/>
              </a:rPr>
              <a:t> – Evaluates ideas for feasibility, scalability, market demand, and potential impact before presenting recommendations.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Interactive Idea Exploration</a:t>
            </a:r>
            <a:r>
              <a:rPr lang="en-US" sz="2000" dirty="0">
                <a:latin typeface="Times New Roman" panose="02020603050405020304" pitchFamily="18" charset="0"/>
                <a:cs typeface="Times New Roman" panose="02020603050405020304" pitchFamily="18" charset="0"/>
              </a:rPr>
              <a:t> – Organizes ideas into categories, impact scores, and feasibility maps, helping users compare and refine concepts efficiently.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Scalable &amp; Enterprise-Ready</a:t>
            </a:r>
            <a:r>
              <a:rPr lang="en-US" sz="2000" dirty="0">
                <a:latin typeface="Times New Roman" panose="02020603050405020304" pitchFamily="18" charset="0"/>
                <a:cs typeface="Times New Roman" panose="02020603050405020304" pitchFamily="18" charset="0"/>
              </a:rPr>
              <a:t> – Built on </a:t>
            </a:r>
            <a:r>
              <a:rPr lang="en-US" sz="2000" b="1" dirty="0">
                <a:latin typeface="Times New Roman" panose="02020603050405020304" pitchFamily="18" charset="0"/>
                <a:cs typeface="Times New Roman" panose="02020603050405020304" pitchFamily="18" charset="0"/>
              </a:rPr>
              <a:t>IBM Cloud, </a:t>
            </a:r>
            <a:r>
              <a:rPr lang="en-US" sz="2000" b="1" dirty="0" err="1">
                <a:latin typeface="Times New Roman" panose="02020603050405020304" pitchFamily="18" charset="0"/>
                <a:cs typeface="Times New Roman" panose="02020603050405020304" pitchFamily="18" charset="0"/>
              </a:rPr>
              <a:t>watsonx</a:t>
            </a:r>
            <a:r>
              <a:rPr lang="en-US" sz="2000" b="1" dirty="0">
                <a:latin typeface="Times New Roman" panose="02020603050405020304" pitchFamily="18" charset="0"/>
                <a:cs typeface="Times New Roman" panose="02020603050405020304" pitchFamily="18" charset="0"/>
              </a:rPr>
              <a:t> Orchestrate, and Granite Models</a:t>
            </a:r>
            <a:r>
              <a:rPr lang="en-US" sz="2000" dirty="0">
                <a:latin typeface="Times New Roman" panose="02020603050405020304" pitchFamily="18" charset="0"/>
                <a:cs typeface="Times New Roman" panose="02020603050405020304" pitchFamily="18" charset="0"/>
              </a:rPr>
              <a:t>, ensuring reliability, scalability, and AI governance.</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dirty="0">
                <a:latin typeface="Times New Roman" panose="02020603050405020304" pitchFamily="18" charset="0"/>
                <a:cs typeface="Times New Roman" panose="02020603050405020304" pitchFamily="18" charset="0"/>
                <a:sym typeface="Times New Roman"/>
              </a:rPr>
              <a:t>Git Hub Link</a:t>
            </a:r>
            <a:endParaRPr sz="3200" b="1" dirty="0">
              <a:latin typeface="Times New Roman" panose="02020603050405020304" pitchFamily="18" charset="0"/>
              <a:cs typeface="Times New Roman" panose="02020603050405020304" pitchFamily="18" charset="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rPr>
              <a:t>https://github.com/s2shinde15/Smart_Business_Idea_Generator_Agent.git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dirty="0">
                <a:latin typeface="Times New Roman" panose="02020603050405020304" pitchFamily="18" charset="0"/>
                <a:cs typeface="Times New Roman" panose="02020603050405020304" pitchFamily="18" charset="0"/>
                <a:sym typeface="Times New Roman"/>
              </a:rPr>
              <a:t>Future Scope </a:t>
            </a:r>
            <a:endParaRPr sz="3200" b="1" dirty="0">
              <a:latin typeface="Times New Roman" panose="02020603050405020304" pitchFamily="18" charset="0"/>
              <a:cs typeface="Times New Roman" panose="02020603050405020304" pitchFamily="18" charset="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4"/>
            <a:ext cx="9276998" cy="5964277"/>
          </a:xfrm>
          <a:prstGeom prst="rect">
            <a:avLst/>
          </a:prstGeom>
          <a:noFill/>
          <a:ln>
            <a:noFill/>
          </a:ln>
        </p:spPr>
        <p:txBody>
          <a:bodyPr spcFirstLastPara="1" wrap="square" lIns="0" tIns="0" rIns="0" bIns="0" anchor="t" anchorCtr="0">
            <a:noAutofit/>
          </a:bodyPr>
          <a:lstStyle/>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1. Real-Time Market Trend Integration</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system can be integrated with market reports, startup databases, news sources, and social media platforms to identify emerging business opportunities. This will enable the agent to generate more relevant and future-ready business ideas based on current industry trends.</a:t>
            </a:r>
          </a:p>
          <a:p>
            <a:r>
              <a:rPr lang="en-US" sz="2000" b="1" dirty="0">
                <a:latin typeface="Times New Roman" panose="02020603050405020304" pitchFamily="18" charset="0"/>
                <a:cs typeface="Times New Roman" panose="02020603050405020304" pitchFamily="18" charset="0"/>
              </a:rPr>
              <a:t>2. Multimodal Idea Generation &amp; Voice Assistant</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Future versions can support text, voice, and image inputs, allowing users to submit product sketches, voice notes, or business concepts. With multilingual voice assistance, users can interact naturally in their preferred language, making the platform more accessible and user-friendly.</a:t>
            </a:r>
          </a:p>
          <a:p>
            <a:r>
              <a:rPr lang="en-US" sz="2000" b="1" dirty="0">
                <a:latin typeface="Times New Roman" panose="02020603050405020304" pitchFamily="18" charset="0"/>
                <a:cs typeface="Times New Roman" panose="02020603050405020304" pitchFamily="18" charset="0"/>
              </a:rPr>
              <a:t>3. AI-Based Feasibility &amp; Market Analysis</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agent can be enhanced with predictive analytics to assess market demand, competition, investment requirements, and potential profitability. This will help users evaluate the viability of business ideas before implementation.</a:t>
            </a:r>
          </a:p>
          <a:p>
            <a:endParaRPr lang="en-US" sz="2000" dirty="0"/>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1274</TotalTime>
  <Words>975</Words>
  <Application>Microsoft Office PowerPoint</Application>
  <PresentationFormat>Widescreen</PresentationFormat>
  <Paragraphs>81</Paragraphs>
  <Slides>14</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Technology Stack</vt:lpstr>
      <vt:lpstr>PowerPoint Presentation</vt:lpstr>
      <vt:lpstr>Result</vt:lpstr>
      <vt:lpstr>Result Continued</vt:lpstr>
      <vt:lpstr>Result Continued</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Shivani Shinde</dc:creator>
  <cp:lastModifiedBy>admin</cp:lastModifiedBy>
  <cp:revision>52</cp:revision>
  <dcterms:created xsi:type="dcterms:W3CDTF">2025-07-08T05:06:56Z</dcterms:created>
  <dcterms:modified xsi:type="dcterms:W3CDTF">2026-06-17T10:15:16Z</dcterms:modified>
</cp:coreProperties>
</file>